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Ubuntu Bold" charset="1" panose="020B0804030602030204"/>
      <p:regular r:id="rId18"/>
    </p:embeddedFont>
    <p:embeddedFont>
      <p:font typeface="Nunito Sans" charset="1" panose="00000000000000000000"/>
      <p:regular r:id="rId19"/>
    </p:embeddedFont>
    <p:embeddedFont>
      <p:font typeface="Open Sans" charset="1" panose="020B0606030504020204"/>
      <p:regular r:id="rId20"/>
    </p:embeddedFont>
    <p:embeddedFont>
      <p:font typeface="Nunito Sans Bold" charset="1" panose="00000000000000000000"/>
      <p:regular r:id="rId21"/>
    </p:embeddedFont>
    <p:embeddedFont>
      <p:font typeface="Ubuntu" charset="1" panose="020B0504030602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86661" y="8229600"/>
            <a:ext cx="5108668" cy="4114800"/>
          </a:xfrm>
          <a:custGeom>
            <a:avLst/>
            <a:gdLst/>
            <a:ahLst/>
            <a:cxnLst/>
            <a:rect r="r" b="b" t="t" l="l"/>
            <a:pathLst>
              <a:path h="4114800" w="5108668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65993" y="-2057400"/>
            <a:ext cx="5108668" cy="4114800"/>
          </a:xfrm>
          <a:custGeom>
            <a:avLst/>
            <a:gdLst/>
            <a:ahLst/>
            <a:cxnLst/>
            <a:rect r="r" b="b" t="t" l="l"/>
            <a:pathLst>
              <a:path h="4114800" w="5108668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329253" y="8229600"/>
            <a:ext cx="5744010" cy="4114800"/>
          </a:xfrm>
          <a:custGeom>
            <a:avLst/>
            <a:gdLst/>
            <a:ahLst/>
            <a:cxnLst/>
            <a:rect r="r" b="b" t="t" l="l"/>
            <a:pathLst>
              <a:path h="4114800" w="5744010">
                <a:moveTo>
                  <a:pt x="5744010" y="0"/>
                </a:moveTo>
                <a:lnTo>
                  <a:pt x="0" y="0"/>
                </a:lnTo>
                <a:lnTo>
                  <a:pt x="0" y="4114800"/>
                </a:lnTo>
                <a:lnTo>
                  <a:pt x="5744010" y="4114800"/>
                </a:lnTo>
                <a:lnTo>
                  <a:pt x="57440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2785263" y="-2057400"/>
            <a:ext cx="5744010" cy="4114800"/>
          </a:xfrm>
          <a:custGeom>
            <a:avLst/>
            <a:gdLst/>
            <a:ahLst/>
            <a:cxnLst/>
            <a:rect r="r" b="b" t="t" l="l"/>
            <a:pathLst>
              <a:path h="4114800" w="5744010">
                <a:moveTo>
                  <a:pt x="0" y="4114800"/>
                </a:moveTo>
                <a:lnTo>
                  <a:pt x="5744010" y="4114800"/>
                </a:lnTo>
                <a:lnTo>
                  <a:pt x="574401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22431" y="871753"/>
            <a:ext cx="1897165" cy="313895"/>
          </a:xfrm>
          <a:custGeom>
            <a:avLst/>
            <a:gdLst/>
            <a:ahLst/>
            <a:cxnLst/>
            <a:rect r="r" b="b" t="t" l="l"/>
            <a:pathLst>
              <a:path h="313895" w="1897165">
                <a:moveTo>
                  <a:pt x="0" y="0"/>
                </a:moveTo>
                <a:lnTo>
                  <a:pt x="1897165" y="0"/>
                </a:lnTo>
                <a:lnTo>
                  <a:pt x="1897165" y="313894"/>
                </a:lnTo>
                <a:lnTo>
                  <a:pt x="0" y="31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68404" y="9101353"/>
            <a:ext cx="1897165" cy="313895"/>
          </a:xfrm>
          <a:custGeom>
            <a:avLst/>
            <a:gdLst/>
            <a:ahLst/>
            <a:cxnLst/>
            <a:rect r="r" b="b" t="t" l="l"/>
            <a:pathLst>
              <a:path h="313895" w="1897165">
                <a:moveTo>
                  <a:pt x="0" y="0"/>
                </a:moveTo>
                <a:lnTo>
                  <a:pt x="1897165" y="0"/>
                </a:lnTo>
                <a:lnTo>
                  <a:pt x="1897165" y="313894"/>
                </a:lnTo>
                <a:lnTo>
                  <a:pt x="0" y="31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90297" y="3398241"/>
            <a:ext cx="2527695" cy="1383338"/>
          </a:xfrm>
          <a:custGeom>
            <a:avLst/>
            <a:gdLst/>
            <a:ahLst/>
            <a:cxnLst/>
            <a:rect r="r" b="b" t="t" l="l"/>
            <a:pathLst>
              <a:path h="1383338" w="2527695">
                <a:moveTo>
                  <a:pt x="0" y="0"/>
                </a:moveTo>
                <a:lnTo>
                  <a:pt x="2527694" y="0"/>
                </a:lnTo>
                <a:lnTo>
                  <a:pt x="2527694" y="1383338"/>
                </a:lnTo>
                <a:lnTo>
                  <a:pt x="0" y="1383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50603" y="5505421"/>
            <a:ext cx="2527695" cy="1383338"/>
          </a:xfrm>
          <a:custGeom>
            <a:avLst/>
            <a:gdLst/>
            <a:ahLst/>
            <a:cxnLst/>
            <a:rect r="r" b="b" t="t" l="l"/>
            <a:pathLst>
              <a:path h="1383338" w="2527695">
                <a:moveTo>
                  <a:pt x="0" y="0"/>
                </a:moveTo>
                <a:lnTo>
                  <a:pt x="2527694" y="0"/>
                </a:lnTo>
                <a:lnTo>
                  <a:pt x="2527694" y="1383338"/>
                </a:lnTo>
                <a:lnTo>
                  <a:pt x="0" y="1383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942741">
            <a:off x="713324" y="6657203"/>
            <a:ext cx="650752" cy="569408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7151737">
            <a:off x="16943924" y="3068622"/>
            <a:ext cx="650752" cy="569408"/>
            <a:chOff x="0" y="0"/>
            <a:chExt cx="8128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942741">
            <a:off x="12430708" y="8997239"/>
            <a:ext cx="571305" cy="499892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6325167">
            <a:off x="5227796" y="767639"/>
            <a:ext cx="571305" cy="499892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12028" y="2394221"/>
            <a:ext cx="14908299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b="true" sz="42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A SCALABLE HANDS-ON CYBERSECURITY LEARNING &amp; PRACTICE PLATFORM</a:t>
            </a:r>
          </a:p>
          <a:p>
            <a:pPr algn="ctr">
              <a:lnSpc>
                <a:spcPts val="42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55022" y="7495598"/>
            <a:ext cx="1790735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Authors: Muhammad Raihan Molla | Asif Raihan Rafi  | Sadia Akter Nur | Ehsanul Haque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8700" y="9073397"/>
            <a:ext cx="1456723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Supervised By:  Shampa Banik, Lecturer, Department of CSE,BUBT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68773" y="1203829"/>
            <a:ext cx="4687193" cy="98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CYBERLEARN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89198" y="4672601"/>
            <a:ext cx="963900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Course: CSE 400 (Software Development Project IV)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22007" y="5448271"/>
            <a:ext cx="120437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Department: Department of Computer Science and Engineering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06368" y="6229726"/>
            <a:ext cx="1107504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Bangladesh University of Business and Technology (BUBT)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4944" y="3219347"/>
            <a:ext cx="1253836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</a:t>
            </a:r>
            <a:r>
              <a:rPr lang="en-US" sz="4200" b="true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</a:t>
            </a:r>
            <a:r>
              <a:rPr lang="en-US" b="true" sz="420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he 4 Fundamental Gaps: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34315" y="335947"/>
            <a:ext cx="9053979" cy="105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b="true" sz="760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 THE PROBLEM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21512" y="9115957"/>
            <a:ext cx="1512136" cy="250190"/>
          </a:xfrm>
          <a:custGeom>
            <a:avLst/>
            <a:gdLst/>
            <a:ahLst/>
            <a:cxnLst/>
            <a:rect r="r" b="b" t="t" l="l"/>
            <a:pathLst>
              <a:path h="250190" w="1512136">
                <a:moveTo>
                  <a:pt x="0" y="0"/>
                </a:moveTo>
                <a:lnTo>
                  <a:pt x="1512135" y="0"/>
                </a:lnTo>
                <a:lnTo>
                  <a:pt x="1512135" y="250190"/>
                </a:lnTo>
                <a:lnTo>
                  <a:pt x="0" y="25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942741">
            <a:off x="683349" y="7818623"/>
            <a:ext cx="523155" cy="457761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942741">
            <a:off x="15472502" y="8906989"/>
            <a:ext cx="477641" cy="417936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910475" y="4072798"/>
            <a:ext cx="13713771" cy="5316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369" indent="-367184" lvl="1">
              <a:lnSpc>
                <a:spcPts val="6530"/>
              </a:lnSpc>
              <a:buAutoNum type="arabicPeriod" startAt="1"/>
            </a:pPr>
            <a:r>
              <a:rPr lang="en-US" sz="340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Theory-Heavy Disconnect: Traditional classes focus on slides, leaving students unable to run real CLI tools or analyze logs.</a:t>
            </a:r>
          </a:p>
          <a:p>
            <a:pPr algn="l" marL="734369" indent="-367184" lvl="1">
              <a:lnSpc>
                <a:spcPts val="4762"/>
              </a:lnSpc>
              <a:buAutoNum type="arabicPeriod" startAt="1"/>
            </a:pPr>
            <a:r>
              <a:rPr lang="en-US" sz="340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Steep CTF Learning Curve: Platforms like HTB assume prior Linux and OpenVPN mastery, causing high beginner dropout.</a:t>
            </a:r>
          </a:p>
          <a:p>
            <a:pPr algn="l" marL="734369" indent="-367184" lvl="1">
              <a:lnSpc>
                <a:spcPts val="4762"/>
              </a:lnSpc>
              <a:buAutoNum type="arabicPeriod" startAt="1"/>
            </a:pPr>
            <a:r>
              <a:rPr lang="en-US" sz="340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Setup &amp; Cost Barriers: Local VM setups demand heavy RAM/CPU and expensive enterprise software licenses.</a:t>
            </a:r>
          </a:p>
          <a:p>
            <a:pPr algn="l" marL="734369" indent="-367184" lvl="1">
              <a:lnSpc>
                <a:spcPts val="4762"/>
              </a:lnSpc>
              <a:buAutoNum type="arabicPeriod" startAt="1"/>
            </a:pPr>
            <a:r>
              <a:rPr lang="en-US" sz="340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The "Stuck Alone" Bottleneck: Beginners get blocked by minor syntax errors with no 24/7 tutor for hints.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78318" y="461999"/>
            <a:ext cx="13331363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COMP</a:t>
            </a:r>
            <a:r>
              <a:rPr lang="en-US" b="true" sz="48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ETITOR COMPARISON: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221512" y="9115957"/>
            <a:ext cx="1512136" cy="250190"/>
          </a:xfrm>
          <a:custGeom>
            <a:avLst/>
            <a:gdLst/>
            <a:ahLst/>
            <a:cxnLst/>
            <a:rect r="r" b="b" t="t" l="l"/>
            <a:pathLst>
              <a:path h="250190" w="1512136">
                <a:moveTo>
                  <a:pt x="0" y="0"/>
                </a:moveTo>
                <a:lnTo>
                  <a:pt x="1512135" y="0"/>
                </a:lnTo>
                <a:lnTo>
                  <a:pt x="1512135" y="250190"/>
                </a:lnTo>
                <a:lnTo>
                  <a:pt x="0" y="25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942741">
            <a:off x="683349" y="7818623"/>
            <a:ext cx="523155" cy="457761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942741">
            <a:off x="15472502" y="8906989"/>
            <a:ext cx="477641" cy="417936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79775" y="1697406"/>
            <a:ext cx="15192085" cy="89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TryHackMe: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Great guided rooms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❌ High subscription costs;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no adaptive AI debugging.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Hack The Box: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Realistic advanced labs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❌ Steep curve;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requires manual VPN &amp; advanced CLI.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PortSwigger: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In-depth web labs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❌ Lacks Linux CLI,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networking,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SOC defense, 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123" y="2086605"/>
            <a:ext cx="1253836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</a:t>
            </a:r>
            <a:r>
              <a:rPr lang="en-US" b="true" sz="420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 Objectives: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471524"/>
            <a:ext cx="1753984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PROPO</a:t>
            </a: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SED SOLUTION, OBJECTIVES </a:t>
            </a:r>
          </a:p>
          <a:p>
            <a:pPr algn="ctr">
              <a:lnSpc>
                <a:spcPts val="49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21512" y="9115957"/>
            <a:ext cx="1512136" cy="250190"/>
          </a:xfrm>
          <a:custGeom>
            <a:avLst/>
            <a:gdLst/>
            <a:ahLst/>
            <a:cxnLst/>
            <a:rect r="r" b="b" t="t" l="l"/>
            <a:pathLst>
              <a:path h="250190" w="1512136">
                <a:moveTo>
                  <a:pt x="0" y="0"/>
                </a:moveTo>
                <a:lnTo>
                  <a:pt x="1512135" y="0"/>
                </a:lnTo>
                <a:lnTo>
                  <a:pt x="1512135" y="250190"/>
                </a:lnTo>
                <a:lnTo>
                  <a:pt x="0" y="25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942741">
            <a:off x="683349" y="7818623"/>
            <a:ext cx="523155" cy="457761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942741">
            <a:off x="15472502" y="8906989"/>
            <a:ext cx="477641" cy="417936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28826" y="3096587"/>
            <a:ext cx="12901660" cy="617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Ze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ro-Setup Disposable Labs: In-browser W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eb Proxy, SOC Logs, and Network Graph.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AI Cyber Coach (Jarvis): Socratic hints and terminal error explanations without leaking answers.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Gamification: XP points, daily streaks, level progression, and global leaderboard.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Anti-Cheat Certification &amp; KYC: Timed exams, NID veri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fication, and public SHA-256 certificates.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I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nstructor Cohorts: Batch management with invite codes (CYBER-XXXXXX)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942741">
            <a:off x="666616" y="7940843"/>
            <a:ext cx="523155" cy="457761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942741">
            <a:off x="15455769" y="9029209"/>
            <a:ext cx="477641" cy="417936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864969" y="8001506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4" y="0"/>
                </a:lnTo>
                <a:lnTo>
                  <a:pt x="2035224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9098692" y="4276942"/>
            <a:ext cx="28575" cy="640618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1948799" y="1779624"/>
            <a:ext cx="15006328" cy="2497318"/>
            <a:chOff x="0" y="0"/>
            <a:chExt cx="20008438" cy="332975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0008438" cy="3329758"/>
              <a:chOff x="0" y="0"/>
              <a:chExt cx="1098124" cy="18274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98124" cy="182747"/>
              </a:xfrm>
              <a:custGeom>
                <a:avLst/>
                <a:gdLst/>
                <a:ahLst/>
                <a:cxnLst/>
                <a:rect r="r" b="b" t="t" l="l"/>
                <a:pathLst>
                  <a:path h="182747" w="1098124">
                    <a:moveTo>
                      <a:pt x="10076" y="0"/>
                    </a:moveTo>
                    <a:lnTo>
                      <a:pt x="1088047" y="0"/>
                    </a:lnTo>
                    <a:cubicBezTo>
                      <a:pt x="1093612" y="0"/>
                      <a:pt x="1098124" y="4511"/>
                      <a:pt x="1098124" y="10076"/>
                    </a:cubicBezTo>
                    <a:lnTo>
                      <a:pt x="1098124" y="172671"/>
                    </a:lnTo>
                    <a:cubicBezTo>
                      <a:pt x="1098124" y="178236"/>
                      <a:pt x="1093612" y="182747"/>
                      <a:pt x="1088047" y="182747"/>
                    </a:cubicBezTo>
                    <a:lnTo>
                      <a:pt x="10076" y="182747"/>
                    </a:lnTo>
                    <a:cubicBezTo>
                      <a:pt x="4511" y="182747"/>
                      <a:pt x="0" y="178236"/>
                      <a:pt x="0" y="172671"/>
                    </a:cubicBezTo>
                    <a:lnTo>
                      <a:pt x="0" y="10076"/>
                    </a:lnTo>
                    <a:cubicBezTo>
                      <a:pt x="0" y="4511"/>
                      <a:pt x="4511" y="0"/>
                      <a:pt x="10076" y="0"/>
                    </a:cubicBezTo>
                    <a:close/>
                  </a:path>
                </a:pathLst>
              </a:custGeom>
              <a:solidFill>
                <a:srgbClr val="C4E1D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98124" cy="2208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779202" y="255506"/>
              <a:ext cx="658663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480"/>
                </a:lnSpc>
                <a:spcBef>
                  <a:spcPct val="0"/>
                </a:spcBef>
                <a:buAutoNum type="arabicPeriod" startAt="1"/>
              </a:pP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Presentati</a:t>
              </a: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on Layer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73060" y="1251070"/>
              <a:ext cx="17972239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Dashboard | Courses | Lab Workspace | AI Coach | Exams | Admin UI  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486304" y="2314081"/>
              <a:ext cx="12169973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React 19 • TypeScript 5 • Tailwind v4 • Zustand 5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04998" y="4917560"/>
            <a:ext cx="13493930" cy="2265567"/>
            <a:chOff x="0" y="0"/>
            <a:chExt cx="987450" cy="1657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7450" cy="165788"/>
            </a:xfrm>
            <a:custGeom>
              <a:avLst/>
              <a:gdLst/>
              <a:ahLst/>
              <a:cxnLst/>
              <a:rect r="r" b="b" t="t" l="l"/>
              <a:pathLst>
                <a:path h="165788" w="987450">
                  <a:moveTo>
                    <a:pt x="11206" y="0"/>
                  </a:moveTo>
                  <a:lnTo>
                    <a:pt x="976245" y="0"/>
                  </a:lnTo>
                  <a:cubicBezTo>
                    <a:pt x="982433" y="0"/>
                    <a:pt x="987450" y="5017"/>
                    <a:pt x="987450" y="11206"/>
                  </a:cubicBezTo>
                  <a:lnTo>
                    <a:pt x="987450" y="154583"/>
                  </a:lnTo>
                  <a:cubicBezTo>
                    <a:pt x="987450" y="157554"/>
                    <a:pt x="986270" y="160405"/>
                    <a:pt x="984168" y="162506"/>
                  </a:cubicBezTo>
                  <a:cubicBezTo>
                    <a:pt x="982067" y="164608"/>
                    <a:pt x="979217" y="165788"/>
                    <a:pt x="976245" y="165788"/>
                  </a:cubicBezTo>
                  <a:lnTo>
                    <a:pt x="11206" y="165788"/>
                  </a:lnTo>
                  <a:cubicBezTo>
                    <a:pt x="5017" y="165788"/>
                    <a:pt x="0" y="160771"/>
                    <a:pt x="0" y="154583"/>
                  </a:cubicBezTo>
                  <a:lnTo>
                    <a:pt x="0" y="11206"/>
                  </a:lnTo>
                  <a:cubicBezTo>
                    <a:pt x="0" y="8234"/>
                    <a:pt x="1181" y="5384"/>
                    <a:pt x="3282" y="3282"/>
                  </a:cubicBezTo>
                  <a:cubicBezTo>
                    <a:pt x="5384" y="1181"/>
                    <a:pt x="8234" y="0"/>
                    <a:pt x="11206" y="0"/>
                  </a:cubicBezTo>
                  <a:close/>
                </a:path>
              </a:pathLst>
            </a:custGeom>
            <a:solidFill>
              <a:srgbClr val="C4E1D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87450" cy="222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2. APPLICATION LAYER (FastAPI / ASGI) </a:t>
              </a:r>
            </a:p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12 Modular Routers • RBAC (Student/Instructor/Admin) • Rate Limiter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32890" y="4363891"/>
            <a:ext cx="3086100" cy="467944"/>
            <a:chOff x="0" y="0"/>
            <a:chExt cx="635000" cy="962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" cy="96285"/>
            </a:xfrm>
            <a:custGeom>
              <a:avLst/>
              <a:gdLst/>
              <a:ahLst/>
              <a:cxnLst/>
              <a:rect r="r" b="b" t="t" l="l"/>
              <a:pathLst>
                <a:path h="96285" w="635000">
                  <a:moveTo>
                    <a:pt x="48142" y="0"/>
                  </a:moveTo>
                  <a:lnTo>
                    <a:pt x="586858" y="0"/>
                  </a:lnTo>
                  <a:cubicBezTo>
                    <a:pt x="599626" y="0"/>
                    <a:pt x="611871" y="5072"/>
                    <a:pt x="620899" y="14101"/>
                  </a:cubicBezTo>
                  <a:cubicBezTo>
                    <a:pt x="629928" y="23129"/>
                    <a:pt x="635000" y="35374"/>
                    <a:pt x="635000" y="48142"/>
                  </a:cubicBezTo>
                  <a:lnTo>
                    <a:pt x="635000" y="48142"/>
                  </a:lnTo>
                  <a:cubicBezTo>
                    <a:pt x="635000" y="60911"/>
                    <a:pt x="629928" y="73156"/>
                    <a:pt x="620899" y="82184"/>
                  </a:cubicBezTo>
                  <a:cubicBezTo>
                    <a:pt x="611871" y="91213"/>
                    <a:pt x="599626" y="96285"/>
                    <a:pt x="586858" y="96285"/>
                  </a:cubicBezTo>
                  <a:lnTo>
                    <a:pt x="48142" y="96285"/>
                  </a:lnTo>
                  <a:cubicBezTo>
                    <a:pt x="35374" y="96285"/>
                    <a:pt x="23129" y="91213"/>
                    <a:pt x="14101" y="82184"/>
                  </a:cubicBezTo>
                  <a:cubicBezTo>
                    <a:pt x="5072" y="73156"/>
                    <a:pt x="0" y="60911"/>
                    <a:pt x="0" y="48142"/>
                  </a:cubicBezTo>
                  <a:lnTo>
                    <a:pt x="0" y="48142"/>
                  </a:lnTo>
                  <a:cubicBezTo>
                    <a:pt x="0" y="35374"/>
                    <a:pt x="5072" y="23129"/>
                    <a:pt x="14101" y="14101"/>
                  </a:cubicBezTo>
                  <a:cubicBezTo>
                    <a:pt x="23129" y="5072"/>
                    <a:pt x="35374" y="0"/>
                    <a:pt x="48142" y="0"/>
                  </a:cubicBezTo>
                  <a:close/>
                </a:path>
              </a:pathLst>
            </a:custGeom>
            <a:solidFill>
              <a:srgbClr val="C4E1D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35000" cy="134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HTTPS / REST (JWT Auth)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5032658" y="7183744"/>
            <a:ext cx="30007" cy="817762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0" y="471524"/>
            <a:ext cx="1753984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SY</a:t>
            </a: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STEM ARCHITECTURE &amp; TECH STACK</a:t>
            </a:r>
          </a:p>
          <a:p>
            <a:pPr algn="ctr">
              <a:lnSpc>
                <a:spcPts val="4999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3073261" y="8097381"/>
            <a:ext cx="3583416" cy="1672850"/>
            <a:chOff x="0" y="0"/>
            <a:chExt cx="4777889" cy="223046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777889" cy="2230466"/>
              <a:chOff x="0" y="0"/>
              <a:chExt cx="737328" cy="34420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37328" cy="344208"/>
              </a:xfrm>
              <a:custGeom>
                <a:avLst/>
                <a:gdLst/>
                <a:ahLst/>
                <a:cxnLst/>
                <a:rect r="r" b="b" t="t" l="l"/>
                <a:pathLst>
                  <a:path h="344208" w="737328">
                    <a:moveTo>
                      <a:pt x="42197" y="0"/>
                    </a:moveTo>
                    <a:lnTo>
                      <a:pt x="695132" y="0"/>
                    </a:lnTo>
                    <a:cubicBezTo>
                      <a:pt x="718436" y="0"/>
                      <a:pt x="737328" y="18892"/>
                      <a:pt x="737328" y="42197"/>
                    </a:cubicBezTo>
                    <a:lnTo>
                      <a:pt x="737328" y="302011"/>
                    </a:lnTo>
                    <a:cubicBezTo>
                      <a:pt x="737328" y="313202"/>
                      <a:pt x="732883" y="323935"/>
                      <a:pt x="724969" y="331849"/>
                    </a:cubicBezTo>
                    <a:cubicBezTo>
                      <a:pt x="717056" y="339762"/>
                      <a:pt x="706323" y="344208"/>
                      <a:pt x="695132" y="344208"/>
                    </a:cubicBezTo>
                    <a:lnTo>
                      <a:pt x="42197" y="344208"/>
                    </a:lnTo>
                    <a:cubicBezTo>
                      <a:pt x="18892" y="344208"/>
                      <a:pt x="0" y="325316"/>
                      <a:pt x="0" y="302011"/>
                    </a:cubicBezTo>
                    <a:lnTo>
                      <a:pt x="0" y="42197"/>
                    </a:lnTo>
                    <a:cubicBezTo>
                      <a:pt x="0" y="18892"/>
                      <a:pt x="18892" y="0"/>
                      <a:pt x="42197" y="0"/>
                    </a:cubicBezTo>
                    <a:close/>
                  </a:path>
                </a:pathLst>
              </a:custGeom>
              <a:solidFill>
                <a:srgbClr val="C4E1D8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737328" cy="382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03795" y="306832"/>
              <a:ext cx="3767534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DATA PERSISTENCE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23527" y="816697"/>
              <a:ext cx="4455517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PostgreSQL 16 / SQLite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94072" y="1450850"/>
              <a:ext cx="3778448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20 Relational Tables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27873" y="8149711"/>
            <a:ext cx="3341638" cy="1568189"/>
            <a:chOff x="0" y="0"/>
            <a:chExt cx="4455517" cy="209091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80268" y="0"/>
              <a:ext cx="3992136" cy="2090918"/>
              <a:chOff x="0" y="0"/>
              <a:chExt cx="616070" cy="32267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16070" cy="322673"/>
              </a:xfrm>
              <a:custGeom>
                <a:avLst/>
                <a:gdLst/>
                <a:ahLst/>
                <a:cxnLst/>
                <a:rect r="r" b="b" t="t" l="l"/>
                <a:pathLst>
                  <a:path h="322673" w="616070">
                    <a:moveTo>
                      <a:pt x="50502" y="0"/>
                    </a:moveTo>
                    <a:lnTo>
                      <a:pt x="565568" y="0"/>
                    </a:lnTo>
                    <a:cubicBezTo>
                      <a:pt x="593460" y="0"/>
                      <a:pt x="616070" y="22611"/>
                      <a:pt x="616070" y="50502"/>
                    </a:cubicBezTo>
                    <a:lnTo>
                      <a:pt x="616070" y="272170"/>
                    </a:lnTo>
                    <a:cubicBezTo>
                      <a:pt x="616070" y="300062"/>
                      <a:pt x="593460" y="322673"/>
                      <a:pt x="565568" y="322673"/>
                    </a:cubicBezTo>
                    <a:lnTo>
                      <a:pt x="50502" y="322673"/>
                    </a:lnTo>
                    <a:cubicBezTo>
                      <a:pt x="22611" y="322673"/>
                      <a:pt x="0" y="300062"/>
                      <a:pt x="0" y="272170"/>
                    </a:cubicBezTo>
                    <a:lnTo>
                      <a:pt x="0" y="50502"/>
                    </a:lnTo>
                    <a:cubicBezTo>
                      <a:pt x="0" y="22611"/>
                      <a:pt x="22611" y="0"/>
                      <a:pt x="50502" y="0"/>
                    </a:cubicBezTo>
                    <a:close/>
                  </a:path>
                </a:pathLst>
              </a:custGeom>
              <a:solidFill>
                <a:srgbClr val="C4E1D8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616070" cy="3607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80268" y="190440"/>
              <a:ext cx="3767534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AI SERVICES 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700305"/>
              <a:ext cx="4455517" cy="1074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oogle Gemini/ OpenAI API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375940" y="8169723"/>
            <a:ext cx="3583416" cy="1672850"/>
            <a:chOff x="0" y="0"/>
            <a:chExt cx="4777889" cy="2230466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4777889" cy="2230466"/>
              <a:chOff x="0" y="0"/>
              <a:chExt cx="737328" cy="34420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37328" cy="344208"/>
              </a:xfrm>
              <a:custGeom>
                <a:avLst/>
                <a:gdLst/>
                <a:ahLst/>
                <a:cxnLst/>
                <a:rect r="r" b="b" t="t" l="l"/>
                <a:pathLst>
                  <a:path h="344208" w="737328">
                    <a:moveTo>
                      <a:pt x="42197" y="0"/>
                    </a:moveTo>
                    <a:lnTo>
                      <a:pt x="695132" y="0"/>
                    </a:lnTo>
                    <a:cubicBezTo>
                      <a:pt x="718436" y="0"/>
                      <a:pt x="737328" y="18892"/>
                      <a:pt x="737328" y="42197"/>
                    </a:cubicBezTo>
                    <a:lnTo>
                      <a:pt x="737328" y="302011"/>
                    </a:lnTo>
                    <a:cubicBezTo>
                      <a:pt x="737328" y="313202"/>
                      <a:pt x="732883" y="323935"/>
                      <a:pt x="724969" y="331849"/>
                    </a:cubicBezTo>
                    <a:cubicBezTo>
                      <a:pt x="717056" y="339762"/>
                      <a:pt x="706323" y="344208"/>
                      <a:pt x="695132" y="344208"/>
                    </a:cubicBezTo>
                    <a:lnTo>
                      <a:pt x="42197" y="344208"/>
                    </a:lnTo>
                    <a:cubicBezTo>
                      <a:pt x="18892" y="344208"/>
                      <a:pt x="0" y="325316"/>
                      <a:pt x="0" y="302011"/>
                    </a:cubicBezTo>
                    <a:lnTo>
                      <a:pt x="0" y="42197"/>
                    </a:lnTo>
                    <a:cubicBezTo>
                      <a:pt x="0" y="18892"/>
                      <a:pt x="18892" y="0"/>
                      <a:pt x="42197" y="0"/>
                    </a:cubicBezTo>
                    <a:close/>
                  </a:path>
                </a:pathLst>
              </a:custGeom>
              <a:solidFill>
                <a:srgbClr val="C4E1D8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737328" cy="382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03795" y="306832"/>
              <a:ext cx="3767534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COMMUNIC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ATIONS 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23527" y="816697"/>
              <a:ext cx="4455517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revo (Sendinblue)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94072" y="1450850"/>
              <a:ext cx="3778448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Em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ail API / SMTP 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8829547" y="7185128"/>
            <a:ext cx="80" cy="964583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12887512" y="7183127"/>
            <a:ext cx="0" cy="986596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942741">
            <a:off x="423645" y="8049553"/>
            <a:ext cx="523155" cy="457761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F615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942741">
            <a:off x="15756120" y="8415974"/>
            <a:ext cx="182215" cy="159438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92423" y="3234407"/>
            <a:ext cx="3778447" cy="1247636"/>
            <a:chOff x="0" y="0"/>
            <a:chExt cx="682289" cy="2252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289" cy="225290"/>
            </a:xfrm>
            <a:custGeom>
              <a:avLst/>
              <a:gdLst/>
              <a:ahLst/>
              <a:cxnLst/>
              <a:rect r="r" b="b" t="t" l="l"/>
              <a:pathLst>
                <a:path h="225290" w="682289">
                  <a:moveTo>
                    <a:pt x="40019" y="0"/>
                  </a:moveTo>
                  <a:lnTo>
                    <a:pt x="642270" y="0"/>
                  </a:lnTo>
                  <a:cubicBezTo>
                    <a:pt x="652884" y="0"/>
                    <a:pt x="663063" y="4216"/>
                    <a:pt x="670568" y="11721"/>
                  </a:cubicBezTo>
                  <a:cubicBezTo>
                    <a:pt x="678073" y="19226"/>
                    <a:pt x="682289" y="29405"/>
                    <a:pt x="682289" y="40019"/>
                  </a:cubicBezTo>
                  <a:lnTo>
                    <a:pt x="682289" y="185271"/>
                  </a:lnTo>
                  <a:cubicBezTo>
                    <a:pt x="682289" y="207373"/>
                    <a:pt x="664372" y="225290"/>
                    <a:pt x="642270" y="225290"/>
                  </a:cubicBezTo>
                  <a:lnTo>
                    <a:pt x="40019" y="225290"/>
                  </a:lnTo>
                  <a:cubicBezTo>
                    <a:pt x="29405" y="225290"/>
                    <a:pt x="19226" y="221074"/>
                    <a:pt x="11721" y="213569"/>
                  </a:cubicBezTo>
                  <a:cubicBezTo>
                    <a:pt x="4216" y="206064"/>
                    <a:pt x="0" y="195885"/>
                    <a:pt x="0" y="185271"/>
                  </a:cubicBezTo>
                  <a:lnTo>
                    <a:pt x="0" y="40019"/>
                  </a:lnTo>
                  <a:cubicBezTo>
                    <a:pt x="0" y="29405"/>
                    <a:pt x="4216" y="19226"/>
                    <a:pt x="11721" y="11721"/>
                  </a:cubicBezTo>
                  <a:cubicBezTo>
                    <a:pt x="19226" y="4216"/>
                    <a:pt x="29405" y="0"/>
                    <a:pt x="40019" y="0"/>
                  </a:cubicBezTo>
                  <a:close/>
                </a:path>
              </a:pathLst>
            </a:custGeom>
            <a:solidFill>
              <a:srgbClr val="C4E1D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2289" cy="263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Auth &amp; Users (3):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users, achievements, progress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540836" y="616276"/>
            <a:ext cx="15448636" cy="110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4279" b="true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Database Design &amp; HMAC Flag Algorithm</a:t>
            </a:r>
          </a:p>
          <a:p>
            <a:pPr algn="l">
              <a:lnSpc>
                <a:spcPts val="427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944926" y="5352466"/>
            <a:ext cx="5508496" cy="1491241"/>
            <a:chOff x="0" y="0"/>
            <a:chExt cx="1133435" cy="306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3435" cy="306840"/>
            </a:xfrm>
            <a:custGeom>
              <a:avLst/>
              <a:gdLst/>
              <a:ahLst/>
              <a:cxnLst/>
              <a:rect r="r" b="b" t="t" l="l"/>
              <a:pathLst>
                <a:path h="306840" w="1133435">
                  <a:moveTo>
                    <a:pt x="27450" y="0"/>
                  </a:moveTo>
                  <a:lnTo>
                    <a:pt x="1105985" y="0"/>
                  </a:lnTo>
                  <a:cubicBezTo>
                    <a:pt x="1113265" y="0"/>
                    <a:pt x="1120248" y="2892"/>
                    <a:pt x="1125395" y="8040"/>
                  </a:cubicBezTo>
                  <a:cubicBezTo>
                    <a:pt x="1130543" y="13188"/>
                    <a:pt x="1133435" y="20170"/>
                    <a:pt x="1133435" y="27450"/>
                  </a:cubicBezTo>
                  <a:lnTo>
                    <a:pt x="1133435" y="279390"/>
                  </a:lnTo>
                  <a:cubicBezTo>
                    <a:pt x="1133435" y="286670"/>
                    <a:pt x="1130543" y="293652"/>
                    <a:pt x="1125395" y="298800"/>
                  </a:cubicBezTo>
                  <a:cubicBezTo>
                    <a:pt x="1120248" y="303948"/>
                    <a:pt x="1113265" y="306840"/>
                    <a:pt x="1105985" y="306840"/>
                  </a:cubicBezTo>
                  <a:lnTo>
                    <a:pt x="27450" y="306840"/>
                  </a:lnTo>
                  <a:cubicBezTo>
                    <a:pt x="12290" y="306840"/>
                    <a:pt x="0" y="294550"/>
                    <a:pt x="0" y="279390"/>
                  </a:cubicBezTo>
                  <a:lnTo>
                    <a:pt x="0" y="27450"/>
                  </a:lnTo>
                  <a:cubicBezTo>
                    <a:pt x="0" y="20170"/>
                    <a:pt x="2892" y="13188"/>
                    <a:pt x="8040" y="8040"/>
                  </a:cubicBezTo>
                  <a:cubicBezTo>
                    <a:pt x="13188" y="2892"/>
                    <a:pt x="20170" y="0"/>
                    <a:pt x="27450" y="0"/>
                  </a:cubicBezTo>
                  <a:close/>
                </a:path>
              </a:pathLst>
            </a:custGeom>
            <a:solidFill>
              <a:srgbClr val="C4E1D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33435" cy="344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Exams &amp; Certificates (4):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exams, exam_questions, exam_submissions, certificates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42218" y="5352466"/>
            <a:ext cx="6861546" cy="1905886"/>
            <a:chOff x="0" y="0"/>
            <a:chExt cx="1411841" cy="3921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1841" cy="392158"/>
            </a:xfrm>
            <a:custGeom>
              <a:avLst/>
              <a:gdLst/>
              <a:ahLst/>
              <a:cxnLst/>
              <a:rect r="r" b="b" t="t" l="l"/>
              <a:pathLst>
                <a:path h="392158" w="1411841">
                  <a:moveTo>
                    <a:pt x="22037" y="0"/>
                  </a:moveTo>
                  <a:lnTo>
                    <a:pt x="1389804" y="0"/>
                  </a:lnTo>
                  <a:cubicBezTo>
                    <a:pt x="1395648" y="0"/>
                    <a:pt x="1401254" y="2322"/>
                    <a:pt x="1405386" y="6455"/>
                  </a:cubicBezTo>
                  <a:cubicBezTo>
                    <a:pt x="1409519" y="10587"/>
                    <a:pt x="1411841" y="16193"/>
                    <a:pt x="1411841" y="22037"/>
                  </a:cubicBezTo>
                  <a:lnTo>
                    <a:pt x="1411841" y="370120"/>
                  </a:lnTo>
                  <a:cubicBezTo>
                    <a:pt x="1411841" y="375965"/>
                    <a:pt x="1409519" y="381570"/>
                    <a:pt x="1405386" y="385703"/>
                  </a:cubicBezTo>
                  <a:cubicBezTo>
                    <a:pt x="1401254" y="389836"/>
                    <a:pt x="1395648" y="392158"/>
                    <a:pt x="1389804" y="392158"/>
                  </a:cubicBezTo>
                  <a:lnTo>
                    <a:pt x="22037" y="392158"/>
                  </a:lnTo>
                  <a:cubicBezTo>
                    <a:pt x="16193" y="392158"/>
                    <a:pt x="10587" y="389836"/>
                    <a:pt x="6455" y="385703"/>
                  </a:cubicBezTo>
                  <a:cubicBezTo>
                    <a:pt x="2322" y="381570"/>
                    <a:pt x="0" y="375965"/>
                    <a:pt x="0" y="370120"/>
                  </a:cubicBezTo>
                  <a:lnTo>
                    <a:pt x="0" y="22037"/>
                  </a:lnTo>
                  <a:cubicBezTo>
                    <a:pt x="0" y="16193"/>
                    <a:pt x="2322" y="10587"/>
                    <a:pt x="6455" y="6455"/>
                  </a:cubicBezTo>
                  <a:cubicBezTo>
                    <a:pt x="10587" y="2322"/>
                    <a:pt x="16193" y="0"/>
                    <a:pt x="22037" y="0"/>
                  </a:cubicBezTo>
                  <a:close/>
                </a:path>
              </a:pathLst>
            </a:custGeom>
            <a:solidFill>
              <a:srgbClr val="C4E1D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11841" cy="430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AI, Batches &amp; Social (6): ai_sessions, ai_chat_messages, batches, batch_enrollments, posts, comments, post_votes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53422" y="2975340"/>
            <a:ext cx="5748553" cy="1622182"/>
            <a:chOff x="0" y="0"/>
            <a:chExt cx="1182830" cy="3337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2830" cy="333782"/>
            </a:xfrm>
            <a:custGeom>
              <a:avLst/>
              <a:gdLst/>
              <a:ahLst/>
              <a:cxnLst/>
              <a:rect r="r" b="b" t="t" l="l"/>
              <a:pathLst>
                <a:path h="333782" w="1182830">
                  <a:moveTo>
                    <a:pt x="26304" y="0"/>
                  </a:moveTo>
                  <a:lnTo>
                    <a:pt x="1156526" y="0"/>
                  </a:lnTo>
                  <a:cubicBezTo>
                    <a:pt x="1163502" y="0"/>
                    <a:pt x="1170193" y="2771"/>
                    <a:pt x="1175126" y="7704"/>
                  </a:cubicBezTo>
                  <a:cubicBezTo>
                    <a:pt x="1180059" y="12637"/>
                    <a:pt x="1182830" y="19328"/>
                    <a:pt x="1182830" y="26304"/>
                  </a:cubicBezTo>
                  <a:lnTo>
                    <a:pt x="1182830" y="307478"/>
                  </a:lnTo>
                  <a:cubicBezTo>
                    <a:pt x="1182830" y="314455"/>
                    <a:pt x="1180059" y="321145"/>
                    <a:pt x="1175126" y="326078"/>
                  </a:cubicBezTo>
                  <a:cubicBezTo>
                    <a:pt x="1170193" y="331011"/>
                    <a:pt x="1163502" y="333782"/>
                    <a:pt x="1156526" y="333782"/>
                  </a:cubicBezTo>
                  <a:lnTo>
                    <a:pt x="26304" y="333782"/>
                  </a:lnTo>
                  <a:cubicBezTo>
                    <a:pt x="19328" y="333782"/>
                    <a:pt x="12637" y="331011"/>
                    <a:pt x="7704" y="326078"/>
                  </a:cubicBezTo>
                  <a:cubicBezTo>
                    <a:pt x="2771" y="321145"/>
                    <a:pt x="0" y="314455"/>
                    <a:pt x="0" y="307478"/>
                  </a:cubicBezTo>
                  <a:lnTo>
                    <a:pt x="0" y="26304"/>
                  </a:lnTo>
                  <a:cubicBezTo>
                    <a:pt x="0" y="19328"/>
                    <a:pt x="2771" y="12637"/>
                    <a:pt x="7704" y="7704"/>
                  </a:cubicBezTo>
                  <a:cubicBezTo>
                    <a:pt x="12637" y="2771"/>
                    <a:pt x="19328" y="0"/>
                    <a:pt x="26304" y="0"/>
                  </a:cubicBezTo>
                  <a:close/>
                </a:path>
              </a:pathLst>
            </a:custGeom>
            <a:solidFill>
              <a:srgbClr val="C4E1D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82830" cy="371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Curriculum &amp; Labs (5):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courses, lessons, labs, lab_sessions, course_purchases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602151" y="3190293"/>
            <a:ext cx="3086100" cy="1407229"/>
            <a:chOff x="0" y="0"/>
            <a:chExt cx="635000" cy="2895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" cy="289553"/>
            </a:xfrm>
            <a:custGeom>
              <a:avLst/>
              <a:gdLst/>
              <a:ahLst/>
              <a:cxnLst/>
              <a:rect r="r" b="b" t="t" l="l"/>
              <a:pathLst>
                <a:path h="289553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240556"/>
                  </a:lnTo>
                  <a:cubicBezTo>
                    <a:pt x="635000" y="253551"/>
                    <a:pt x="629838" y="266014"/>
                    <a:pt x="620649" y="275203"/>
                  </a:cubicBezTo>
                  <a:cubicBezTo>
                    <a:pt x="611460" y="284391"/>
                    <a:pt x="598998" y="289553"/>
                    <a:pt x="586003" y="289553"/>
                  </a:cubicBezTo>
                  <a:lnTo>
                    <a:pt x="48997" y="289553"/>
                  </a:lnTo>
                  <a:cubicBezTo>
                    <a:pt x="36002" y="289553"/>
                    <a:pt x="23540" y="284391"/>
                    <a:pt x="14351" y="275203"/>
                  </a:cubicBezTo>
                  <a:cubicBezTo>
                    <a:pt x="5162" y="266014"/>
                    <a:pt x="0" y="253551"/>
                    <a:pt x="0" y="240556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C4E1D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5000" cy="327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Billing (2): </a:t>
              </a:r>
              <a:r>
                <a:rPr lang="en-US" sz="24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invoices, course_purchases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88404" y="8240333"/>
            <a:ext cx="16320275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Core Algorithm — HMAC-SHA256 Flag Verification:  Flags are dynamically computed at runtime and NEVER stored in plaintext in the database.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123" y="2086605"/>
            <a:ext cx="1253836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Backend (12 Modula</a:t>
            </a:r>
            <a:r>
              <a:rPr lang="en-US" b="true" sz="420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 FastAPI Routers):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471524"/>
            <a:ext cx="1753984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BA</a:t>
            </a: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CKEND ARCHITECHTURE</a:t>
            </a:r>
          </a:p>
          <a:p>
            <a:pPr algn="ctr">
              <a:lnSpc>
                <a:spcPts val="49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21512" y="9115957"/>
            <a:ext cx="1512136" cy="250190"/>
          </a:xfrm>
          <a:custGeom>
            <a:avLst/>
            <a:gdLst/>
            <a:ahLst/>
            <a:cxnLst/>
            <a:rect r="r" b="b" t="t" l="l"/>
            <a:pathLst>
              <a:path h="250190" w="1512136">
                <a:moveTo>
                  <a:pt x="0" y="0"/>
                </a:moveTo>
                <a:lnTo>
                  <a:pt x="1512135" y="0"/>
                </a:lnTo>
                <a:lnTo>
                  <a:pt x="1512135" y="250190"/>
                </a:lnTo>
                <a:lnTo>
                  <a:pt x="0" y="25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942741">
            <a:off x="683349" y="7818623"/>
            <a:ext cx="523155" cy="457761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942741">
            <a:off x="15472502" y="8906989"/>
            <a:ext cx="477641" cy="417936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28826" y="3096587"/>
            <a:ext cx="12901660" cy="617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auth &amp; users — JWT lifecycle, OAuth exchange, profile &amp; KYC uploads.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courses &amp; labs — Lesson delivery, progress sync, Web Proxy forwarder, HMAC flags.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ai &amp; exams — Multi-session AI coach, 20–25 MCQ engine with anti-cheat auto-grading.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certi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ficates, leaderboard &amp; community — SHA-256 minting, rankings,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di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scussion forums.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batches, billing &amp; admin — Cohort codes (CYBER-XXXXXX), subscriptions, platform telemetry.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123" y="2086605"/>
            <a:ext cx="1253836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Frontend (Next.js 16</a:t>
            </a:r>
            <a:r>
              <a:rPr lang="en-US" b="true" sz="4200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App Router):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471524"/>
            <a:ext cx="1753984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FRO</a:t>
            </a: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NTEND ARCHITECHTURE</a:t>
            </a:r>
          </a:p>
          <a:p>
            <a:pPr algn="ctr">
              <a:lnSpc>
                <a:spcPts val="49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21512" y="9115957"/>
            <a:ext cx="1512136" cy="250190"/>
          </a:xfrm>
          <a:custGeom>
            <a:avLst/>
            <a:gdLst/>
            <a:ahLst/>
            <a:cxnLst/>
            <a:rect r="r" b="b" t="t" l="l"/>
            <a:pathLst>
              <a:path h="250190" w="1512136">
                <a:moveTo>
                  <a:pt x="0" y="0"/>
                </a:moveTo>
                <a:lnTo>
                  <a:pt x="1512135" y="0"/>
                </a:lnTo>
                <a:lnTo>
                  <a:pt x="1512135" y="250190"/>
                </a:lnTo>
                <a:lnTo>
                  <a:pt x="0" y="25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942741">
            <a:off x="683349" y="7818623"/>
            <a:ext cx="523155" cy="457761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942741">
            <a:off x="15472502" y="8906989"/>
            <a:ext cx="477641" cy="417936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28826" y="3096587"/>
            <a:ext cx="12901660" cy="449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/(auth) $\rightarrow$ Login, signup, OAuth redirects.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/(app) $\rightarrow$ Dashboard, course player, lab workspace, AI coach, admin portal.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/portfolio/[username] $\rightarrow$ Public student portfolio &amp; earned certi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ficates.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/verify/[token] $\rightarrow$ Public cryptographic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certificate authenticity validator.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471524"/>
            <a:ext cx="17539842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FEA</a:t>
            </a:r>
            <a:r>
              <a:rPr lang="en-US" b="true" sz="49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TURE WALKTHROUGH </a:t>
            </a:r>
          </a:p>
          <a:p>
            <a:pPr algn="ctr">
              <a:lnSpc>
                <a:spcPts val="49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221512" y="9115957"/>
            <a:ext cx="1512136" cy="250190"/>
          </a:xfrm>
          <a:custGeom>
            <a:avLst/>
            <a:gdLst/>
            <a:ahLst/>
            <a:cxnLst/>
            <a:rect r="r" b="b" t="t" l="l"/>
            <a:pathLst>
              <a:path h="250190" w="1512136">
                <a:moveTo>
                  <a:pt x="0" y="0"/>
                </a:moveTo>
                <a:lnTo>
                  <a:pt x="1512135" y="0"/>
                </a:lnTo>
                <a:lnTo>
                  <a:pt x="1512135" y="250190"/>
                </a:lnTo>
                <a:lnTo>
                  <a:pt x="0" y="25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942741">
            <a:off x="683349" y="7818623"/>
            <a:ext cx="523155" cy="457761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942741">
            <a:off x="15472502" y="8906989"/>
            <a:ext cx="477641" cy="417936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06832" y="3449367"/>
            <a:ext cx="5277594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. Interactive Lab Workspace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06832" y="4333169"/>
            <a:ext cx="5740003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. Multi-Session AI Cyber Coach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06832" y="5337739"/>
            <a:ext cx="6434435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. Certification Exams &amp; Anti-Cheat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06832" y="6332798"/>
            <a:ext cx="6192292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5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. Government NID (KYC) Pipeline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96104" y="7327856"/>
            <a:ext cx="6655891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6. Gamification &amp; Learner Portfolios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96104" y="8183807"/>
            <a:ext cx="6929289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7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. Instructor Batches &amp; Admin Control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43320" y="2565565"/>
            <a:ext cx="6004620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448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Stream Pre-recorded Course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21512" y="9115957"/>
            <a:ext cx="1512136" cy="250190"/>
          </a:xfrm>
          <a:custGeom>
            <a:avLst/>
            <a:gdLst/>
            <a:ahLst/>
            <a:cxnLst/>
            <a:rect r="r" b="b" t="t" l="l"/>
            <a:pathLst>
              <a:path h="250190" w="1512136">
                <a:moveTo>
                  <a:pt x="0" y="0"/>
                </a:moveTo>
                <a:lnTo>
                  <a:pt x="1512135" y="0"/>
                </a:lnTo>
                <a:lnTo>
                  <a:pt x="1512135" y="250190"/>
                </a:lnTo>
                <a:lnTo>
                  <a:pt x="0" y="25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942741">
            <a:off x="683349" y="7818623"/>
            <a:ext cx="523155" cy="457761"/>
            <a:chOff x="0" y="0"/>
            <a:chExt cx="8128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4" id="14"/>
          <p:cNvGraphicFramePr/>
          <p:nvPr/>
        </p:nvGraphicFramePr>
        <p:xfrm>
          <a:off x="877327" y="1589867"/>
          <a:ext cx="9515475" cy="1257300"/>
        </p:xfrm>
        <a:graphic>
          <a:graphicData uri="http://schemas.openxmlformats.org/presentationml/2006/ole">
            <p:oleObj imgW="11417300" imgH="31623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944926" y="481049"/>
            <a:ext cx="7805053" cy="110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4279" b="true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Limitations &amp; Future Work</a:t>
            </a:r>
          </a:p>
          <a:p>
            <a:pPr algn="l">
              <a:lnSpc>
                <a:spcPts val="42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2998" y="3700042"/>
            <a:ext cx="12538363" cy="224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CyberLearn</a:t>
            </a:r>
            <a:r>
              <a:rPr lang="en-US" sz="32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successfully eliminates cost and hardware barriers, delivering interactive cybersecurity learning, AI mentorship, and verified credentials directly in the browser.</a:t>
            </a:r>
          </a:p>
          <a:p>
            <a:pPr algn="just">
              <a:lnSpc>
                <a:spcPts val="448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719083" y="-744553"/>
            <a:ext cx="19726167" cy="2279753"/>
            <a:chOff x="0" y="0"/>
            <a:chExt cx="5195369" cy="600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5369" cy="600429"/>
            </a:xfrm>
            <a:custGeom>
              <a:avLst/>
              <a:gdLst/>
              <a:ahLst/>
              <a:cxnLst/>
              <a:rect r="r" b="b" t="t" l="l"/>
              <a:pathLst>
                <a:path h="600429" w="5195369">
                  <a:moveTo>
                    <a:pt x="0" y="0"/>
                  </a:moveTo>
                  <a:lnTo>
                    <a:pt x="5195369" y="0"/>
                  </a:lnTo>
                  <a:lnTo>
                    <a:pt x="5195369" y="600429"/>
                  </a:lnTo>
                  <a:lnTo>
                    <a:pt x="0" y="600429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95369" cy="638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73772" y="2310495"/>
            <a:ext cx="11905029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6246"/>
            <a:ext cx="5192812" cy="56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4279" b="true">
                <a:solidFill>
                  <a:srgbClr val="00000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Research Project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221512" y="9115957"/>
            <a:ext cx="1512136" cy="250190"/>
          </a:xfrm>
          <a:custGeom>
            <a:avLst/>
            <a:gdLst/>
            <a:ahLst/>
            <a:cxnLst/>
            <a:rect r="r" b="b" t="t" l="l"/>
            <a:pathLst>
              <a:path h="250190" w="1512136">
                <a:moveTo>
                  <a:pt x="0" y="0"/>
                </a:moveTo>
                <a:lnTo>
                  <a:pt x="1512135" y="0"/>
                </a:lnTo>
                <a:lnTo>
                  <a:pt x="1512135" y="250190"/>
                </a:lnTo>
                <a:lnTo>
                  <a:pt x="0" y="25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46819" y="3776242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942741">
            <a:off x="683349" y="7818623"/>
            <a:ext cx="523155" cy="457761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7151737">
            <a:off x="17002659" y="2417204"/>
            <a:ext cx="513281" cy="449121"/>
            <a:chOff x="0" y="0"/>
            <a:chExt cx="8128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942741">
            <a:off x="15472502" y="8906989"/>
            <a:ext cx="477641" cy="417936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971860" y="6503997"/>
            <a:ext cx="2035223" cy="1113822"/>
          </a:xfrm>
          <a:custGeom>
            <a:avLst/>
            <a:gdLst/>
            <a:ahLst/>
            <a:cxnLst/>
            <a:rect r="r" b="b" t="t" l="l"/>
            <a:pathLst>
              <a:path h="1113822" w="2035223">
                <a:moveTo>
                  <a:pt x="0" y="0"/>
                </a:moveTo>
                <a:lnTo>
                  <a:pt x="2035223" y="0"/>
                </a:lnTo>
                <a:lnTo>
                  <a:pt x="2035223" y="1113822"/>
                </a:lnTo>
                <a:lnTo>
                  <a:pt x="0" y="1113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86661" y="8229600"/>
            <a:ext cx="5108668" cy="4114800"/>
          </a:xfrm>
          <a:custGeom>
            <a:avLst/>
            <a:gdLst/>
            <a:ahLst/>
            <a:cxnLst/>
            <a:rect r="r" b="b" t="t" l="l"/>
            <a:pathLst>
              <a:path h="4114800" w="5108668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65993" y="-2057400"/>
            <a:ext cx="5108668" cy="4114800"/>
          </a:xfrm>
          <a:custGeom>
            <a:avLst/>
            <a:gdLst/>
            <a:ahLst/>
            <a:cxnLst/>
            <a:rect r="r" b="b" t="t" l="l"/>
            <a:pathLst>
              <a:path h="4114800" w="5108668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329253" y="8229600"/>
            <a:ext cx="5744010" cy="4114800"/>
          </a:xfrm>
          <a:custGeom>
            <a:avLst/>
            <a:gdLst/>
            <a:ahLst/>
            <a:cxnLst/>
            <a:rect r="r" b="b" t="t" l="l"/>
            <a:pathLst>
              <a:path h="4114800" w="5744010">
                <a:moveTo>
                  <a:pt x="5744010" y="0"/>
                </a:moveTo>
                <a:lnTo>
                  <a:pt x="0" y="0"/>
                </a:lnTo>
                <a:lnTo>
                  <a:pt x="0" y="4114800"/>
                </a:lnTo>
                <a:lnTo>
                  <a:pt x="5744010" y="4114800"/>
                </a:lnTo>
                <a:lnTo>
                  <a:pt x="57440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2785263" y="-2057400"/>
            <a:ext cx="5744010" cy="4114800"/>
          </a:xfrm>
          <a:custGeom>
            <a:avLst/>
            <a:gdLst/>
            <a:ahLst/>
            <a:cxnLst/>
            <a:rect r="r" b="b" t="t" l="l"/>
            <a:pathLst>
              <a:path h="4114800" w="5744010">
                <a:moveTo>
                  <a:pt x="0" y="4114800"/>
                </a:moveTo>
                <a:lnTo>
                  <a:pt x="5744010" y="4114800"/>
                </a:lnTo>
                <a:lnTo>
                  <a:pt x="574401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22431" y="871753"/>
            <a:ext cx="1897165" cy="313895"/>
          </a:xfrm>
          <a:custGeom>
            <a:avLst/>
            <a:gdLst/>
            <a:ahLst/>
            <a:cxnLst/>
            <a:rect r="r" b="b" t="t" l="l"/>
            <a:pathLst>
              <a:path h="313895" w="1897165">
                <a:moveTo>
                  <a:pt x="0" y="0"/>
                </a:moveTo>
                <a:lnTo>
                  <a:pt x="1897165" y="0"/>
                </a:lnTo>
                <a:lnTo>
                  <a:pt x="1897165" y="313894"/>
                </a:lnTo>
                <a:lnTo>
                  <a:pt x="0" y="31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68404" y="9101353"/>
            <a:ext cx="1897165" cy="313895"/>
          </a:xfrm>
          <a:custGeom>
            <a:avLst/>
            <a:gdLst/>
            <a:ahLst/>
            <a:cxnLst/>
            <a:rect r="r" b="b" t="t" l="l"/>
            <a:pathLst>
              <a:path h="313895" w="1897165">
                <a:moveTo>
                  <a:pt x="0" y="0"/>
                </a:moveTo>
                <a:lnTo>
                  <a:pt x="1897165" y="0"/>
                </a:lnTo>
                <a:lnTo>
                  <a:pt x="1897165" y="313894"/>
                </a:lnTo>
                <a:lnTo>
                  <a:pt x="0" y="31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90297" y="3398241"/>
            <a:ext cx="2527695" cy="1383338"/>
          </a:xfrm>
          <a:custGeom>
            <a:avLst/>
            <a:gdLst/>
            <a:ahLst/>
            <a:cxnLst/>
            <a:rect r="r" b="b" t="t" l="l"/>
            <a:pathLst>
              <a:path h="1383338" w="2527695">
                <a:moveTo>
                  <a:pt x="0" y="0"/>
                </a:moveTo>
                <a:lnTo>
                  <a:pt x="2527694" y="0"/>
                </a:lnTo>
                <a:lnTo>
                  <a:pt x="2527694" y="1383338"/>
                </a:lnTo>
                <a:lnTo>
                  <a:pt x="0" y="1383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50603" y="5505421"/>
            <a:ext cx="2527695" cy="1383338"/>
          </a:xfrm>
          <a:custGeom>
            <a:avLst/>
            <a:gdLst/>
            <a:ahLst/>
            <a:cxnLst/>
            <a:rect r="r" b="b" t="t" l="l"/>
            <a:pathLst>
              <a:path h="1383338" w="2527695">
                <a:moveTo>
                  <a:pt x="0" y="0"/>
                </a:moveTo>
                <a:lnTo>
                  <a:pt x="2527694" y="0"/>
                </a:lnTo>
                <a:lnTo>
                  <a:pt x="2527694" y="1383338"/>
                </a:lnTo>
                <a:lnTo>
                  <a:pt x="0" y="1383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22007" y="2149162"/>
            <a:ext cx="11766040" cy="381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6"/>
              </a:lnSpc>
            </a:pPr>
            <a:r>
              <a:rPr lang="en-US" b="true" sz="14516">
                <a:solidFill>
                  <a:srgbClr val="4F615D"/>
                </a:solidFill>
                <a:latin typeface="Ubuntu Bold"/>
                <a:ea typeface="Ubuntu Bold"/>
                <a:cs typeface="Ubuntu Bold"/>
                <a:sym typeface="Ubuntu Bold"/>
              </a:rPr>
              <a:t>THANK</a:t>
            </a:r>
          </a:p>
          <a:p>
            <a:pPr algn="ctr">
              <a:lnSpc>
                <a:spcPts val="14516"/>
              </a:lnSpc>
            </a:pPr>
            <a:r>
              <a:rPr lang="en-US" b="true" sz="14516">
                <a:solidFill>
                  <a:srgbClr val="4F615D"/>
                </a:solidFill>
                <a:latin typeface="Ubuntu Bold"/>
                <a:ea typeface="Ubuntu Bold"/>
                <a:cs typeface="Ubuntu Bold"/>
                <a:sym typeface="Ubuntu Bold"/>
              </a:rPr>
              <a:t>YOU</a:t>
            </a:r>
          </a:p>
        </p:txBody>
      </p:sp>
      <p:grpSp>
        <p:nvGrpSpPr>
          <p:cNvPr name="Group 11" id="11"/>
          <p:cNvGrpSpPr/>
          <p:nvPr/>
        </p:nvGrpSpPr>
        <p:grpSpPr>
          <a:xfrm rot="-1942741">
            <a:off x="713324" y="6657203"/>
            <a:ext cx="650752" cy="569408"/>
            <a:chOff x="0" y="0"/>
            <a:chExt cx="812800" cy="711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7151737">
            <a:off x="16943924" y="3068622"/>
            <a:ext cx="650752" cy="569408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942741">
            <a:off x="12430708" y="8997239"/>
            <a:ext cx="571305" cy="499892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6325167">
            <a:off x="5227796" y="767639"/>
            <a:ext cx="571305" cy="499892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AEFE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38542" y="7113410"/>
            <a:ext cx="1784945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F615D"/>
                </a:solidFill>
                <a:latin typeface="Ubuntu"/>
                <a:ea typeface="Ubuntu"/>
                <a:cs typeface="Ubuntu"/>
                <a:sym typeface="Ubuntu"/>
              </a:rPr>
              <a:t>CyberLearn is live and accessible at cyber-learn-three.vercel.app. We are now happy to answer your questions and demonstrate the live platform."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DAHT17YVvxk</dc:identifier>
  <dcterms:modified xsi:type="dcterms:W3CDTF">2011-08-01T06:04:30Z</dcterms:modified>
  <cp:revision>1</cp:revision>
  <dc:title>Copy of Mint Green Minimalist Research Presentation</dc:title>
</cp:coreProperties>
</file>